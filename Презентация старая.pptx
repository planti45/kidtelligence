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7" r:id="rId9"/>
    <p:sldId id="265" r:id="rId10"/>
    <p:sldId id="266" r:id="rId11"/>
    <p:sldId id="268" r:id="rId12"/>
    <p:sldId id="269" r:id="rId13"/>
    <p:sldId id="270" r:id="rId14"/>
    <p:sldId id="271" r:id="rId15"/>
    <p:sldId id="26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930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1A943-8A1C-4686-AB4B-2B9A5B986B43}" type="datetimeFigureOut">
              <a:rPr lang="ru-RU" smtClean="0"/>
              <a:pPr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DEE91-3AC5-445C-B0A2-694972CAE91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DDEE91-3AC5-445C-B0A2-694972CAE916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5" name="Подзаголовок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1" name="Дата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Рисунок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1" name="Текст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7" name="Дата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r>
              <a:rPr lang="ru-RU" dirty="0" smtClean="0"/>
              <a:t>Учеба с «</a:t>
            </a:r>
            <a:r>
              <a:rPr lang="en-US" dirty="0" smtClean="0"/>
              <a:t>KidTelligence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4343400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Автор: Ковердяев Платон</a:t>
            </a:r>
          </a:p>
          <a:p>
            <a:r>
              <a:rPr lang="ru-RU" sz="2400" dirty="0" smtClean="0"/>
              <a:t>Класс: 10Д</a:t>
            </a:r>
          </a:p>
          <a:p>
            <a:r>
              <a:rPr lang="ru-RU" sz="2400" dirty="0" smtClean="0"/>
              <a:t>Научный руководитель: Королева Екатерина Алексеевна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Изображение WhatsApp 2025-09-28 в 19.02.07_a4265545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10000" y="4267200"/>
            <a:ext cx="4328418" cy="2438400"/>
          </a:xfrm>
        </p:spPr>
      </p:pic>
      <p:sp>
        <p:nvSpPr>
          <p:cNvPr id="5" name="TextBox 4"/>
          <p:cNvSpPr txBox="1"/>
          <p:nvPr/>
        </p:nvSpPr>
        <p:spPr>
          <a:xfrm>
            <a:off x="152400" y="1524001"/>
            <a:ext cx="7924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В наше время для формирования личности очень важно получить разносторонние знания, а для этого необходимо обучаться в школе, это первая ступень образования. Для детей с когнитивными нарушениями обучение – очень сложная задача.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Так как информация в школе подаётся поэтапно, очень важно усвоить базовые знания в начальных классах. 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52400" y="4572000"/>
            <a:ext cx="350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У детей с когнитивными нарушениями с этим большие проблемы.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381000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ВВЕДЕНИЕ</a:t>
            </a:r>
            <a:endParaRPr lang="ru-RU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4343400"/>
            <a:ext cx="4343984" cy="2271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228600" y="1295400"/>
            <a:ext cx="7696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В наше время очень развиты компьютерные технологии, и практически каждый ребенок так или иначе умеет пользоваться компьютером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Также сейчас многие дети любят играть в компьютерные игры, и знают базовые игровые механики вроде игровой валюты, уровней сложности или имени игрока. Исходя из этого я создал «</a:t>
            </a:r>
            <a:r>
              <a:rPr lang="en-US" sz="2400" dirty="0" smtClean="0"/>
              <a:t>KidTelligence</a:t>
            </a:r>
            <a:r>
              <a:rPr lang="ru-RU" sz="2400" dirty="0" smtClean="0"/>
              <a:t>».</a:t>
            </a:r>
          </a:p>
          <a:p>
            <a:pPr>
              <a:buFont typeface="Arial" pitchFamily="34" charset="0"/>
              <a:buChar char="•"/>
            </a:pP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724400" y="4191000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Это приложение будет в игровой форме помогать детям с особенностями развития усваивать школьную программу.</a:t>
            </a:r>
            <a:endParaRPr lang="ru-RU" sz="2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57200" y="228600"/>
            <a:ext cx="73725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РЕШЕНИЕ ПРОБЛЕМЫ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620000" cy="1143000"/>
          </a:xfrm>
        </p:spPr>
        <p:txBody>
          <a:bodyPr>
            <a:noAutofit/>
          </a:bodyPr>
          <a:lstStyle/>
          <a:p>
            <a:pPr algn="ctr"/>
            <a:r>
              <a:rPr lang="ru-RU" sz="5400" cap="none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ГЛАВНАЯ КОНЦЕПЦИЯ</a:t>
            </a:r>
            <a:endParaRPr lang="ru-RU" sz="5400" cap="none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752600"/>
            <a:ext cx="777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По сути «</a:t>
            </a:r>
            <a:r>
              <a:rPr lang="en-US" sz="2400" dirty="0" smtClean="0"/>
              <a:t>KidTelligence</a:t>
            </a:r>
            <a:r>
              <a:rPr lang="ru-RU" sz="2400" dirty="0" smtClean="0"/>
              <a:t>» - это генератор текстовых задач по математике (в дальнейшем появится возможность решения задач и по другим предметам), но в игровом формате.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В игре есть система вознаграждений, игровая валюта и магазин, разделение на уровни сложности и упрощенная система аккаунтов без сложных логинов и паролей.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Такой подход будет стимулировать ребёнка к решению все большего и большего количества задач, что поможет ему с усвоением школьной программы и обучением в дальнейшем.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81000" y="228600"/>
            <a:ext cx="74676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ТИПЫ ЗАДАЧ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209800" y="1295400"/>
            <a:ext cx="3657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2209800" y="1371600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rgbClr val="FFC000"/>
                </a:solidFill>
              </a:rPr>
              <a:t>ЗАДАЧИ</a:t>
            </a:r>
            <a:endParaRPr lang="ru-RU" sz="3200" dirty="0">
              <a:solidFill>
                <a:srgbClr val="FFC000"/>
              </a:solidFill>
            </a:endParaRPr>
          </a:p>
        </p:txBody>
      </p:sp>
      <p:sp>
        <p:nvSpPr>
          <p:cNvPr id="8" name="Стрелка вправо 7"/>
          <p:cNvSpPr/>
          <p:nvPr/>
        </p:nvSpPr>
        <p:spPr>
          <a:xfrm rot="7950120">
            <a:off x="1440572" y="2830661"/>
            <a:ext cx="2395065" cy="206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 rot="2813236">
            <a:off x="4313311" y="2530154"/>
            <a:ext cx="1585261" cy="1874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3881735"/>
            <a:ext cx="2514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4343400" y="3276600"/>
            <a:ext cx="2514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09600" y="3881735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rgbClr val="FFC000"/>
                </a:solidFill>
              </a:rPr>
              <a:t>Простые</a:t>
            </a:r>
            <a:endParaRPr lang="ru-RU" sz="2400" dirty="0">
              <a:solidFill>
                <a:srgbClr val="FFC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3272135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rgbClr val="FFC000"/>
                </a:solidFill>
              </a:rPr>
              <a:t>Сложные</a:t>
            </a:r>
            <a:endParaRPr lang="ru-RU" sz="2400" dirty="0">
              <a:solidFill>
                <a:srgbClr val="FFC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1000" y="4407932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Задачи в 1 действие</a:t>
            </a:r>
            <a:endParaRPr lang="ru-RU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4734342"/>
            <a:ext cx="3581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 smtClean="0"/>
              <a:t>1 класс</a:t>
            </a:r>
            <a:r>
              <a:rPr lang="ru-RU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Задачи на сложение\вычитание в пределах 20</a:t>
            </a:r>
          </a:p>
          <a:p>
            <a:r>
              <a:rPr lang="ru-RU" u="sng" dirty="0" smtClean="0"/>
              <a:t>2 класс</a:t>
            </a:r>
            <a:r>
              <a:rPr lang="ru-RU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Задачи на сложение\вычитание в пределах 100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Задачи на умножение\деление</a:t>
            </a:r>
          </a:p>
          <a:p>
            <a:endParaRPr lang="ru-RU" sz="16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4267200" y="38100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Задачи в несколько действий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419600" y="4114800"/>
            <a:ext cx="3276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 smtClean="0"/>
              <a:t>1 класс</a:t>
            </a:r>
            <a:r>
              <a:rPr lang="ru-RU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Задачи на сложение\вычитание в пределах 20</a:t>
            </a:r>
          </a:p>
          <a:p>
            <a:r>
              <a:rPr lang="ru-RU" u="sng" dirty="0" smtClean="0"/>
              <a:t>2 класс</a:t>
            </a:r>
            <a:r>
              <a:rPr lang="ru-RU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Задачи на сложение\вычитание в пределах 100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Задачи на умножение\деление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Задачи на все операции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3400" y="228600"/>
            <a:ext cx="70866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ВИДЫ ОВЗ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219200"/>
            <a:ext cx="7924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Категории детей с ОВЗ</a:t>
            </a:r>
            <a:r>
              <a:rPr lang="ru-RU" sz="2400" dirty="0" smtClean="0"/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Дети с нарушениями слуха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Дети с нарушениями зрения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</a:t>
            </a:r>
            <a:r>
              <a:rPr lang="ru-RU" sz="2400" u="sng" dirty="0" smtClean="0"/>
              <a:t>Дети с нарушениями речи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</a:t>
            </a:r>
            <a:r>
              <a:rPr lang="ru-RU" sz="2400" u="sng" dirty="0" smtClean="0"/>
              <a:t>Дети с нарушениями интеллекта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</a:t>
            </a:r>
            <a:r>
              <a:rPr lang="ru-RU" sz="2400" u="sng" dirty="0" smtClean="0"/>
              <a:t>Дети с задержкой психического развития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Дети с нарушениями опорно-двигательного аппарата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Дети с нарушениями эмоционально- волевой сферы и поведения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</a:t>
            </a:r>
            <a:r>
              <a:rPr lang="ru-RU" sz="2400" u="sng" dirty="0" smtClean="0"/>
              <a:t>Дети с множественными нарушениями</a:t>
            </a:r>
            <a:endParaRPr lang="ru-RU" sz="2400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548640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Мое приложение рассчитано на выделенные категории детей с ОВЗ, так как у остальных проблемы с усвоением материала выражены слабее.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27609" y="228600"/>
            <a:ext cx="74703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ОСНОВНЫЕ ФУНКЦИИ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219200"/>
            <a:ext cx="35052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429000"/>
            <a:ext cx="3962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4114800"/>
            <a:ext cx="3213361" cy="2154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57200" y="1143000"/>
            <a:ext cx="3733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Основные функции приложения: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Генерация задач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Проверка ответа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Вознаграждение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3733800"/>
            <a:ext cx="175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Пример задачи</a:t>
            </a:r>
            <a:endParaRPr lang="ru-R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1066800" y="61722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Задача решена верно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715000" y="63246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Магазин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" y="0"/>
            <a:ext cx="80772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ИМПОРТИРУЕМЫЕ МОДУЛИ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86200"/>
            <a:ext cx="6296660" cy="21336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133600" y="6172200"/>
            <a:ext cx="441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Импортируемые модули</a:t>
            </a:r>
            <a:endParaRPr lang="ru-R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28600" y="1828800"/>
            <a:ext cx="7848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Так как код написан на </a:t>
            </a:r>
            <a:r>
              <a:rPr lang="en-US" dirty="0" smtClean="0"/>
              <a:t>Python</a:t>
            </a:r>
            <a:r>
              <a:rPr lang="ru-RU" dirty="0" smtClean="0"/>
              <a:t>, при создании использовалось большое количество модулей. Вкратце об их ролях: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</a:t>
            </a:r>
            <a:r>
              <a:rPr lang="en-US" u="sng" dirty="0" smtClean="0"/>
              <a:t>sys</a:t>
            </a:r>
            <a:r>
              <a:rPr lang="ru-RU" dirty="0" smtClean="0"/>
              <a:t> нужен для запуска интерфейса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</a:t>
            </a:r>
            <a:r>
              <a:rPr lang="en-US" u="sng" dirty="0" smtClean="0"/>
              <a:t>sqlite3</a:t>
            </a:r>
            <a:r>
              <a:rPr lang="ru-RU" dirty="0" smtClean="0"/>
              <a:t> нужен для работы с БД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</a:t>
            </a:r>
            <a:r>
              <a:rPr lang="en-US" u="sng" dirty="0" smtClean="0"/>
              <a:t>random</a:t>
            </a:r>
            <a:r>
              <a:rPr lang="ru-RU" dirty="0" smtClean="0"/>
              <a:t> и </a:t>
            </a:r>
            <a:r>
              <a:rPr lang="en-US" u="sng" dirty="0" smtClean="0"/>
              <a:t>pymorphy3</a:t>
            </a:r>
            <a:r>
              <a:rPr lang="ru-RU" dirty="0" smtClean="0"/>
              <a:t> нужны для генерации задач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</a:t>
            </a:r>
            <a:r>
              <a:rPr lang="en-US" u="sng" dirty="0" smtClean="0"/>
              <a:t>Pyqt6.uic</a:t>
            </a:r>
            <a:r>
              <a:rPr lang="en-US" dirty="0" smtClean="0"/>
              <a:t>, </a:t>
            </a:r>
            <a:r>
              <a:rPr lang="en-US" u="sng" dirty="0" smtClean="0"/>
              <a:t>PyQt6.QtWidgets</a:t>
            </a:r>
            <a:r>
              <a:rPr lang="en-US" dirty="0" smtClean="0"/>
              <a:t>, </a:t>
            </a:r>
            <a:r>
              <a:rPr lang="en-US" u="sng" dirty="0" smtClean="0"/>
              <a:t>PyQt6.QtCore</a:t>
            </a:r>
            <a:r>
              <a:rPr lang="ru-RU" dirty="0" smtClean="0"/>
              <a:t> нужны для работы с интерфейсом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00123" y="228600"/>
            <a:ext cx="4269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ИНТЕРФЕЙС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343400"/>
            <a:ext cx="3351213" cy="1742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1295400"/>
            <a:ext cx="348996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2209800"/>
            <a:ext cx="3427413" cy="3905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800600" y="1676400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Подключение интерфейса</a:t>
            </a:r>
            <a:endParaRPr lang="ru-RU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4724400" y="6096000"/>
            <a:ext cx="304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Подключение кнопок к соответствующим методам</a:t>
            </a:r>
            <a:endParaRPr lang="ru-R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990600" y="6096000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Страница в </a:t>
            </a:r>
            <a:r>
              <a:rPr lang="en-US" sz="1600" dirty="0" smtClean="0"/>
              <a:t>QtDesigner</a:t>
            </a:r>
            <a:endParaRPr lang="ru-R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1447800"/>
            <a:ext cx="381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Большая часть интерфейса создана с помощью </a:t>
            </a:r>
            <a:r>
              <a:rPr lang="en-US" sz="2400" dirty="0" smtClean="0"/>
              <a:t>QtDesigner</a:t>
            </a:r>
            <a:r>
              <a:rPr lang="ru-RU" sz="2400" dirty="0" smtClean="0"/>
              <a:t>. Также использовались </a:t>
            </a:r>
            <a:r>
              <a:rPr lang="en-US" sz="2400" dirty="0" smtClean="0"/>
              <a:t>CSS</a:t>
            </a:r>
            <a:r>
              <a:rPr lang="ru-RU" sz="2400" dirty="0" smtClean="0"/>
              <a:t> таблицы и некоторые методы в коде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" y="0"/>
            <a:ext cx="839125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ОСОБЕННОСТИ ИНТЕРФЕЙСА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752600"/>
            <a:ext cx="4495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Так как игра рассчитана на детей с отклонениями, интерфейс содержит в себе максимально мало деталей. Кнопки большие и контрастные, шрифт без засечек</a:t>
            </a:r>
            <a:endParaRPr lang="ru-RU" sz="2400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905000"/>
            <a:ext cx="3351213" cy="3691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876800" y="5638800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Считывание информации с клавиатуры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419600"/>
            <a:ext cx="2895600" cy="1858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295400" y="6324600"/>
            <a:ext cx="297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Главное меню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04800" y="228600"/>
            <a:ext cx="75793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СИСТЕМА АККАУНТОВ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38600"/>
            <a:ext cx="3055833" cy="1871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4267200"/>
            <a:ext cx="4038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62000" y="609600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/>
              <a:t>«Сохранить»</a:t>
            </a:r>
            <a:endParaRPr lang="ru-RU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4419600" y="5486400"/>
            <a:ext cx="32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/>
              <a:t>«Загрузить»</a:t>
            </a:r>
            <a:endParaRPr lang="ru-RU" sz="1600" dirty="0"/>
          </a:p>
        </p:txBody>
      </p:sp>
      <p:pic>
        <p:nvPicPr>
          <p:cNvPr id="10" name="Рисунок 9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1" y="1143001"/>
            <a:ext cx="3505200" cy="21336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914400" y="3352800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/>
              <a:t>Ввод имени</a:t>
            </a:r>
            <a:endParaRPr lang="ru-RU" sz="1600" dirty="0"/>
          </a:p>
        </p:txBody>
      </p:sp>
      <p:pic>
        <p:nvPicPr>
          <p:cNvPr id="12" name="Рисунок 11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43400" y="1143000"/>
            <a:ext cx="3724275" cy="2326717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5029200" y="35052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Ввод класса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3400" y="304800"/>
            <a:ext cx="75280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ГЕНЕРАЦИЯ ЗАДАНИЙ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24400" y="1225689"/>
            <a:ext cx="3276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Задания генерируются с помощью шаблонов. В нужные места подставляются случайные значения из заранее созданных списков с помощью модуля  </a:t>
            </a:r>
            <a:r>
              <a:rPr lang="en-US" sz="2400" dirty="0" smtClean="0"/>
              <a:t>random</a:t>
            </a:r>
            <a:r>
              <a:rPr lang="ru-RU" sz="2400" dirty="0" smtClean="0"/>
              <a:t>, и если это слова, они ставятся в нужную грамматическую форму с помощью модуля </a:t>
            </a:r>
            <a:r>
              <a:rPr lang="en-US" sz="2400" dirty="0" smtClean="0"/>
              <a:t>pymorphy3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00200"/>
            <a:ext cx="4419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219200" y="3429000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Шаблоны для 1 класса</a:t>
            </a:r>
            <a:endParaRPr lang="ru-RU" sz="1600" dirty="0"/>
          </a:p>
        </p:txBody>
      </p:sp>
      <p:pic>
        <p:nvPicPr>
          <p:cNvPr id="8" name="Рисунок 7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3962400"/>
            <a:ext cx="4419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914400" y="5715000"/>
            <a:ext cx="373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Часть шаблонов для 2 класса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47800" y="304800"/>
            <a:ext cx="55018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ТЕСТИРОВАНИЕ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295400"/>
            <a:ext cx="7162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Было проведено 2 тестирования из 2-х задач, сгенерированных «</a:t>
            </a:r>
            <a:r>
              <a:rPr lang="en-US" sz="2400" dirty="0" smtClean="0"/>
              <a:t>KidTelligence</a:t>
            </a:r>
            <a:r>
              <a:rPr lang="ru-RU" sz="2400" dirty="0" smtClean="0"/>
              <a:t>»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Игру тестировал мой младший брат, страдающий от ДЦП.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</a:t>
            </a:r>
            <a:r>
              <a:rPr lang="ru-RU" sz="2400" b="1" dirty="0" smtClean="0"/>
              <a:t>Результаты тестов</a:t>
            </a:r>
            <a:r>
              <a:rPr lang="ru-RU" sz="2400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i="1" dirty="0" smtClean="0"/>
              <a:t>Время выполнения заданий: </a:t>
            </a:r>
            <a:r>
              <a:rPr lang="ru-RU" sz="2400" dirty="0" smtClean="0"/>
              <a:t>2 минуты 40 секунд. </a:t>
            </a:r>
            <a:r>
              <a:rPr lang="ru-RU" sz="2400" i="1" dirty="0" smtClean="0"/>
              <a:t>Кол-во правильных ответов: </a:t>
            </a:r>
            <a:r>
              <a:rPr lang="ru-RU" sz="2400" dirty="0" smtClean="0"/>
              <a:t>2\2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i="1" dirty="0" smtClean="0"/>
              <a:t>Время выполнения заданий: </a:t>
            </a:r>
            <a:r>
              <a:rPr lang="ru-RU" sz="2400" dirty="0" smtClean="0"/>
              <a:t>1 минута 10 секунд. </a:t>
            </a:r>
            <a:r>
              <a:rPr lang="ru-RU" sz="2400" i="1" dirty="0" smtClean="0"/>
              <a:t>Кол-во правильных ответов: </a:t>
            </a:r>
            <a:r>
              <a:rPr lang="ru-RU" sz="2400" dirty="0" smtClean="0"/>
              <a:t>2\2</a:t>
            </a:r>
            <a:endParaRPr lang="ru-RU" sz="2400" i="1" dirty="0" smtClean="0"/>
          </a:p>
          <a:p>
            <a:pPr marL="457200" indent="-457200">
              <a:buFont typeface="+mj-lt"/>
              <a:buAutoNum type="arabicPeriod"/>
            </a:pPr>
            <a:endParaRPr lang="ru-RU" sz="24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4724400"/>
            <a:ext cx="723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Время выполнения задач сократилось почти в 3 раза, при это кол-во правильных ответов не уменьшилось.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76400" y="228600"/>
            <a:ext cx="47884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ЗАКЛЮЧЕНИЕ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001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Подведем итоги</a:t>
            </a:r>
            <a:r>
              <a:rPr lang="ru-RU" sz="2400" dirty="0" smtClean="0"/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Создана обучающая игра «</a:t>
            </a:r>
            <a:r>
              <a:rPr lang="en-US" sz="2400" dirty="0" smtClean="0"/>
              <a:t>KidTelligence</a:t>
            </a:r>
            <a:r>
              <a:rPr lang="ru-RU" sz="2400" dirty="0" smtClean="0"/>
              <a:t>»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Проведены тестирования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/>
              <a:t> Время качественного выполнения заданий сильно сокращено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3352800"/>
            <a:ext cx="7620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Проблема обучаемости детей с ОВЗ очень остро стоит во многих семьях, так как без образования у ребенка не будет будущего.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«</a:t>
            </a:r>
            <a:r>
              <a:rPr lang="en-US" sz="2400" dirty="0" smtClean="0"/>
              <a:t>KidTelligence</a:t>
            </a:r>
            <a:r>
              <a:rPr lang="ru-RU" sz="2400" dirty="0" smtClean="0"/>
              <a:t>» помогает решить данную проблему, причем в игровом формате. Так ребенку это дается гораздо легче, нежели в формате учебника или задачника, и у него разовьется усидчивость, что очень пригодится в дальнейшем обучении.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Platon\Develop\Projects\KidTelligence\images\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362200"/>
            <a:ext cx="3886200" cy="3187697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914400" y="1066800"/>
            <a:ext cx="655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000" b="1" dirty="0" smtClean="0">
                <a:ln w="12700">
                  <a:solidFill>
                    <a:srgbClr val="B13F9A">
                      <a:satMod val="155000"/>
                    </a:srgbClr>
                  </a:solidFill>
                  <a:prstDash val="solid"/>
                </a:ln>
                <a:solidFill>
                  <a:srgbClr val="F4E7ED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СПАСИБО ЗА ВНИМАНИЕ!</a:t>
            </a:r>
            <a:endParaRPr lang="ru-RU" sz="4000" b="1" dirty="0">
              <a:ln w="12700">
                <a:solidFill>
                  <a:srgbClr val="B13F9A">
                    <a:satMod val="155000"/>
                  </a:srgbClr>
                </a:solidFill>
                <a:prstDash val="solid"/>
              </a:ln>
              <a:solidFill>
                <a:srgbClr val="F4E7ED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зящная">
  <a:themeElements>
    <a:clrScheme name="Изящная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Изящная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Изящная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200</TotalTime>
  <Words>741</Words>
  <Application>Microsoft Office PowerPoint</Application>
  <PresentationFormat>Экран (4:3)</PresentationFormat>
  <Paragraphs>93</Paragraphs>
  <Slides>15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Изящная</vt:lpstr>
      <vt:lpstr>Учеба с «KidTelligence»</vt:lpstr>
      <vt:lpstr>Слайд 2</vt:lpstr>
      <vt:lpstr>Слайд 3</vt:lpstr>
      <vt:lpstr>ГЛАВНАЯ КОНЦЕПЦИЯ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Обучаемость детей с ОВЗ</dc:title>
  <dc:creator>Platon</dc:creator>
  <cp:lastModifiedBy>Platon</cp:lastModifiedBy>
  <cp:revision>166</cp:revision>
  <dcterms:created xsi:type="dcterms:W3CDTF">2006-08-16T00:00:00Z</dcterms:created>
  <dcterms:modified xsi:type="dcterms:W3CDTF">2025-12-17T20:54:58Z</dcterms:modified>
</cp:coreProperties>
</file>